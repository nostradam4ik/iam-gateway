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ropped-Logo-INFO-FOND-BLAN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57200"/>
            <a:ext cx="3657600" cy="18540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BBE1FA"/>
                </a:solidFill>
              </a:defRPr>
            </a:pPr>
            <a:r>
              <a:t>Plateforme No-Code &amp; Gateway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3282B8"/>
                </a:solidFill>
              </a:defRPr>
            </a:pPr>
            <a:r>
              <a:t>Orchestration intelligente des identites multi-systemes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Zhmuryk Andrii &amp; Aydin Ibrahim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1600">
                <a:solidFill>
                  <a:srgbClr val="888888"/>
                </a:solidFill>
              </a:defRPr>
            </a:pPr>
            <a:r>
              <a:t>BUT Informatique 3eme annee</a:t>
            </a:r>
          </a:p>
          <a:p>
            <a:pPr algn="ctr">
              <a:defRPr sz="1600">
                <a:solidFill>
                  <a:srgbClr val="888888"/>
                </a:solidFill>
              </a:defRPr>
            </a:pPr>
            <a:r>
              <a:t>Universite Paris-Est Creteil</a:t>
            </a:r>
          </a:p>
          <a:p>
            <a:pPr algn="ctr">
              <a:defRPr sz="1600">
                <a:solidFill>
                  <a:srgbClr val="888888"/>
                </a:solidFill>
              </a:defRPr>
            </a:pPr>
            <a:r>
              <a:t>Departement Informatique</a:t>
            </a:r>
          </a:p>
          <a:p>
            <a:pPr algn="ctr">
              <a:defRPr sz="1600">
                <a:solidFill>
                  <a:srgbClr val="888888"/>
                </a:solidFill>
              </a:defRPr>
            </a:pPr>
            <a:r>
              <a:t>Janvier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Problematique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Le probleme de la gestion des identites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Situation actuelle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Active Directory / LDAP (authentification)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ERP Odoo, SAP (gestion RH)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Applications metier (bases SQL)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Services Cloud (Keycloak, OAuth)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1 employe = 5 a 10 comptes differents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972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3282B8"/>
                </a:solidFill>
              </a:defRPr>
            </a:pPr>
            <a:r>
              <a:t>Problemes rencontres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Creation manuelle = erreurs + temps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Depart employe = comptes oublies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Aucune tracabilite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Failles de securite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2000" b="1">
                <a:solidFill>
                  <a:srgbClr val="3282B8"/>
                </a:solidFill>
              </a:defRPr>
            </a:pPr>
            <a:r>
              <a:t>Statistiques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- 30% des violations liees aux comptes orphelins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- 4h pour creer tous les acces d'un employe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Notre Solution -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Gateway IAM: Orchestration Intelligente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1. Interface No-Code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MidPoint est puissant MAIS complexe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Notre solution: simple, visuelle, accessible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2. Automatisation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Regles dynamiques en YAML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Calcul automatique (login, email)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Workflows d'approbation multi-niveaux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3. Centralisation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Un seul point d'entree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Vue temps reel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Reconciliation automatique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972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2000" b="1">
                <a:solidFill>
                  <a:srgbClr val="3282B8"/>
                </a:solidFill>
              </a:defRPr>
            </a:pPr>
            <a:r>
              <a:t>Innovation cle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Rendre l'IAM accessible a tous,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pas seulement aux experts MidPoint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Backlog - Epic 1: Gestion Utilisateurs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User Story</a:t>
                      </a:r>
                    </a:p>
                  </a:txBody>
                  <a:tcPr>
                    <a:solidFill>
                      <a:srgbClr val="0F4C7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Priorite</a:t>
                      </a:r>
                    </a:p>
                  </a:txBody>
                  <a:tcPr>
                    <a:solidFill>
                      <a:srgbClr val="0F4C7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Points</a:t>
                      </a:r>
                    </a:p>
                  </a:txBody>
                  <a:tcPr>
                    <a:solidFill>
                      <a:srgbClr val="0F4C7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Creer un utilisateur dans tous les systemes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Modifier les attributs d'un utilisateur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Desactiver/supprimer un compte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Voir l'historique des modifications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Should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Backlog - Epic 4: Connecteurs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User Story</a:t>
                      </a:r>
                    </a:p>
                  </a:txBody>
                  <a:tcPr>
                    <a:solidFill>
                      <a:srgbClr val="0F4C7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Priorite</a:t>
                      </a:r>
                    </a:p>
                  </a:txBody>
                  <a:tcPr>
                    <a:solidFill>
                      <a:srgbClr val="0F4C7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Points</a:t>
                      </a:r>
                    </a:p>
                  </a:txBody>
                  <a:tcPr>
                    <a:solidFill>
                      <a:srgbClr val="0F4C7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Connecteur LDAP (OpenLDAP, AD)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Connecteur Odoo (ERP)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Connecteur SQL (PostgreSQL)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Connecteur MidPoint (REST API)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Connecteur Keycloak (OIDC)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Should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Architecture Globale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Architecture 3-tiers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UTILISATEUR (Navigateur)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        |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        v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FRONTEND REACT (Port 3000)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TypeScript + Tailwind CSS + Vite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        |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        v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GATEWAY API (FastAPI - Port 8000)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Rule Engine | Workflow Mgr | AI Assistant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        |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        v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CONNECTOR LAYER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MidPoint | LDAP | Odoo | SQL | Keycloak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Architecture Technique - 15 Services Docker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Service</a:t>
                      </a:r>
                    </a:p>
                  </a:txBody>
                  <a:tcPr>
                    <a:solidFill>
                      <a:srgbClr val="0F4C7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Technologie</a:t>
                      </a:r>
                    </a:p>
                  </a:txBody>
                  <a:tcPr>
                    <a:solidFill>
                      <a:srgbClr val="0F4C7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Port</a:t>
                      </a:r>
                    </a:p>
                  </a:txBody>
                  <a:tcPr>
                    <a:solidFill>
                      <a:srgbClr val="0F4C7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gateway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FastAPI/Python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8000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gateway-frontend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React/TypeScript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3000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midpoint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MidPoint 4.4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8080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openldap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OpenLDAP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10389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odoo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Odoo 17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8069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keycloak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Keycloak 23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8081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redis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Redis 7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6379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qdrant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Qdrant (Vector DB)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6333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Stack Technologique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Backend (Python)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FastAPI 0.109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SQLModel (ORM)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JWT + OAuth2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ldap3 (LDAP)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APScheduler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OpenAI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972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3282B8"/>
                </a:solidFill>
              </a:defRPr>
            </a:pPr>
            <a:r>
              <a:t>Frontend (TypeScript)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React 18 + Vite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React Router v6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Zustand (state)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Tailwind CSS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Lucide (icons)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Axios (HTTP)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Fonctionnalites - Dashboard (100%)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Dashboard Principal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Vue d'ensemble en temps reel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Statistiques cles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Etat de sante des connecteurs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Graphiques de performance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Alertes et notifications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Endpoints API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GET /api/v1/admin/status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GET /api/v1/admin/metrics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GET /api/v1/connectors/health</a:t>
            </a:r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097280"/>
            <a:ext cx="4114800" cy="197528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Fonctionnalites - Provisioning (100%)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Gestion des Operations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Creation utilisateur multi-systeme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Modification des attributs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Suppression/desactivation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Rollback des operations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Suivi statut temps reel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Systemes cibles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LDAP (comptes + groupes)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Odoo (res.users)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PostgreSQL (tables custom)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MidPoint (utilisateurs, roles)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972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3282B8"/>
                </a:solidFill>
              </a:defRPr>
            </a:pPr>
            <a:r>
              <a:t>Workflow type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1. Creation demande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2. Validation regles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3. Workflow approbation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4. Execution multi-systeme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5. Audit &amp; notification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Fonctionnalites - Moteur de Regles (100%)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Regles Dynamiques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Definition en YAML/JSON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Expressions Jinja2 sandboxees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Filtres integres (normalize_name)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Test avec donnees fictives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Versionnage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Cas d'usage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Generation automatique de login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Calcul email selon departement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Attribution groupes selon poste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972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3282B8"/>
                </a:solidFill>
              </a:defRPr>
            </a:pPr>
            <a:r>
              <a:t>Exemple de regle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target_system: LDAP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rule_type: MAPPING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definition: |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  {%- set login = ... -%}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  {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    "uid": "{{ login }}",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    "mail": "{{ login }}@ex.com"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  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Fonctionnalites - Workflows (100%)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Workflows d'Approbation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Configuration multi-niveaux (5)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Approbation/rejet avec commentaires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Timeout configurable (72h)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Notifications email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Historique des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972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3282B8"/>
                </a:solidFill>
              </a:defRPr>
            </a:pPr>
            <a:r>
              <a:t>Niveaux type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Niveau 1: Manager direct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Niveau 2: Chef departement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Niveau 3: Proprietaire app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Niveau 4: RSSI (si sensible)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[EXECUTION]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Fonctionnalites - Groupes LDAP (100%)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Gestion des Groupes LDAP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Liste de tous les groupes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Visualisation des membres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Ajout avec autocomplete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Suppression de membres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Support groupOfUniqueNames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Interface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Recherche temps reel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Autocompletion intelligente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Filtrage OIDs MidPoint</a:t>
            </a:r>
          </a:p>
        </p:txBody>
      </p:sp>
      <p:pic>
        <p:nvPicPr>
          <p:cNvPr id="6" name="Picture 5" descr="ldap-gro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097280"/>
            <a:ext cx="4114800" cy="197528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Fonctionnalites - Comparaison Live (100%)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Comparaison Temps Reel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Statistiques live par systeme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Comparaison croisee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Detection des ecarts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Sync Odoo -&gt; MidPoint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Planification des syncs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Metriques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Utilisateurs par systeme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Utilisateurs communs vs orphelins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Etat derniere sync</a:t>
            </a:r>
          </a:p>
        </p:txBody>
      </p:sp>
      <p:pic>
        <p:nvPicPr>
          <p:cNvPr id="6" name="Picture 5" descr="comparaison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097280"/>
            <a:ext cx="4114800" cy="197528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Fonctionnalites - Audit &amp; IA (100%)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Audit &amp; Logs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Logging structure (JSON)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Recherche full-text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Recherche semantique (Qdrant)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Filtrage par date, type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Export des rapports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972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3282B8"/>
                </a:solidFill>
              </a:defRPr>
            </a:pPr>
            <a:r>
              <a:t>Assistant IA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Chat avec GPT-4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Suggestions de regles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Aide au diagnostic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Generation code connecteur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Fonctionnalites Partiellement Implementees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Fonctionnalite</a:t>
                      </a:r>
                    </a:p>
                  </a:txBody>
                  <a:tcPr>
                    <a:solidFill>
                      <a:srgbClr val="0F4C7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Progression</a:t>
                      </a:r>
                    </a:p>
                  </a:txBody>
                  <a:tcPr>
                    <a:solidFill>
                      <a:srgbClr val="0F4C7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Reste a faire</a:t>
                      </a:r>
                    </a:p>
                  </a:txBody>
                  <a:tcPr>
                    <a:solidFill>
                      <a:srgbClr val="0F4C7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Integration Keycloak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70%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Sync groupes, mapping roles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Notifications Email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Templates HTML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Recherche Vectorielle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Refresh embeddings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Rollback Complet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60%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Nettoyage etats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Versionnage Git Regles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Integration Git</a:t>
                      </a:r>
                    </a:p>
                  </a:txBody>
                  <a:tcPr>
                    <a:solidFill>
                      <a:srgbClr val="1E2D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Multi-langue UI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i18n React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Fonctionnalites a Implementer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Priorite Haute (Should)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Deploiement Kubernetes (8 pts)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Masquage donnees PII (3 pts)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Migration Alembic (5 pts)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Priorite Moyenne (Could)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Connecteur Firebase (8 pts)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Connecteur GLPI (5 pts)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Detection SoD (8 pts)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App Mobile (21 pts)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972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3282B8"/>
                </a:solidFill>
              </a:defRPr>
            </a:pPr>
            <a:r>
              <a:t>Won't (cette version)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Multi-tenancy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MFA Biometrique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Machine Learning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2000" b="1">
                <a:solidFill>
                  <a:srgbClr val="3282B8"/>
                </a:solidFill>
              </a:defRPr>
            </a:pPr>
            <a:r>
              <a:t>Estimation restante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~60 points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= 3 sprints supplementaires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Difficultes Rencontrees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1. Complexite de MidPoint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Probleme: XML complexe, concepts avances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Solution: Abstraction via API REST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2. Transactions Distribuees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Probleme: 1 operation = 4 systemes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Solution: Pattern Saga avec compensations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972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3282B8"/>
                </a:solidFill>
              </a:defRPr>
            </a:pPr>
            <a:r>
              <a:t>3. Securite Moteur Regles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Probleme: Jinja2 peut executer du code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Solution: SandboxedEnvironment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2000" b="1">
                <a:solidFill>
                  <a:srgbClr val="3282B8"/>
                </a:solidFill>
              </a:defRPr>
            </a:pPr>
            <a:r>
              <a:t>4. Synchronisation Temps Reel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Probleme: Coherence eventuelle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Solution: Cache invalidation + polling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Difficultes Rencontrees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5. Mapping Attributs LDAP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Probleme: Schemas differents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Solution: Config mappings par connecteur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6. Couts &amp; Latence IA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Probleme: OpenAI = $$ + latence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Solution: Cache, rate limiting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972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3282B8"/>
                </a:solidFill>
              </a:defRPr>
            </a:pPr>
            <a:r>
              <a:t>7. Gestion des Secrets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Probleme: 20+ variables sensibles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Solution: .env + validation demarrage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2000" b="1">
                <a:solidFill>
                  <a:srgbClr val="3282B8"/>
                </a:solidFill>
              </a:defRPr>
            </a:pPr>
            <a:r>
              <a:t>8. Tests d'Integration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Probleme: 15 services = complexe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Solution: Mocks + env dedie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Ce que nous avons appris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Competences Techniques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Architecture microservices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API REST avec FastAPI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React moderne (hooks)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Docker &amp; orchestration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Securite (JWT, RBAC)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972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3282B8"/>
                </a:solidFill>
              </a:defRPr>
            </a:pPr>
            <a:r>
              <a:t>Concepts IAM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Provisionnement identites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Reconciliation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Workflows approbation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Audit et conformite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RBAC / ABAC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SSO / OIDC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Demonstration 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Scenario 1: Creation Employe (5 min)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1. Creation dans Odoo (RH)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2. Synchronisation vers MidPoint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3. Attribution role 'Employe Complet'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4. Verification compte LDAP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5. Ajout a un groupe LDAP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Scenario 2: Gestion Regles (3 min)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1. Visualisation regles existantes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2. Test regle avec donnees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3. Modification d'une regle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972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3282B8"/>
                </a:solidFill>
              </a:defRPr>
            </a:pPr>
            <a:r>
              <a:t>Scenario 3: Workflow (3 min)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1. Demande compte sensible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2. Notification manager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3. Approbation avec commentaire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4. Execution automatique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2000" b="1">
                <a:solidFill>
                  <a:srgbClr val="3282B8"/>
                </a:solidFill>
              </a:defRPr>
            </a:pPr>
            <a:r>
              <a:t>Scenario 4: Reconciliation (2 min)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1. Comparaison live systemes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2. Detection compte orphelin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3. Resolution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Roadmap Future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Court terme (1-2 mois)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Finaliser Keycloak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Templates email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Tests automatises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Moyen terme (3-6 mois)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Deploiement Kubernetes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Azure AD connector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Google Workspace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972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3282B8"/>
                </a:solidFill>
              </a:defRPr>
            </a:pPr>
            <a:r>
              <a:t>Long terme (6-12 mois)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Application mobile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Machine Learning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Multi-tenancy SaaS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2000" b="1">
                <a:solidFill>
                  <a:srgbClr val="3282B8"/>
                </a:solidFill>
              </a:defRPr>
            </a:pPr>
            <a:r>
              <a:t>Vision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Plateforme IAM No-Code complete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accessible aux PME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Ce que nous avons realise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Objectif: Simplifier MidPoint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Resultat: 12+ fonctionnalites operationnelles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Chiffres cles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- 16,000+ lignes Python (Backend)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- 5,000+ lignes TypeScript (Frontend)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- 15 services Docker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- 80+ endpoints API REST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- 6 connecteurs systemes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- 14 pages 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972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2000" b="1">
                <a:solidFill>
                  <a:srgbClr val="3282B8"/>
                </a:solidFill>
              </a:defRPr>
            </a:pPr>
            <a:r>
              <a:t>Merci de votre attention!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2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BBE1FA"/>
                </a:solidFill>
              </a:defRPr>
            </a:pPr>
            <a:r>
              <a:t>Annexes - Ressources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Acces au projet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Code source: [Repository Git]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Documentation: /docs/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Video demo: [Lien video]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 b="1">
                <a:solidFill>
                  <a:srgbClr val="3282B8"/>
                </a:solidFill>
              </a:defRPr>
            </a:pPr>
            <a:r>
              <a:t>Technologies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MidPoint: evolveum.com/midpoint/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FastAPI: fastapi.tiangolo.com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t>- React: react.dev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972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3282B8"/>
                </a:solidFill>
              </a:defRPr>
            </a:pPr>
            <a:r>
              <a:t>Contact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Zhmuryk Andrii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Aydin Ibrahim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2000" b="1">
                <a:solidFill>
                  <a:srgbClr val="3282B8"/>
                </a:solidFill>
              </a:defRPr>
            </a:pPr>
            <a:r>
              <a:t>Remerciements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Professeur encadrant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Departement Informatique UPEC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- Communaute Open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