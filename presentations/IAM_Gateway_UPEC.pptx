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-Logo-INFO-FOND-BLAN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164679" cy="1097280"/>
          </a:xfrm>
          <a:prstGeom prst="rect">
            <a:avLst/>
          </a:prstGeom>
        </p:spPr>
      </p:pic>
      <p:pic>
        <p:nvPicPr>
          <p:cNvPr id="4" name="Picture 3" descr="Lissi-cmj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74320"/>
            <a:ext cx="3338481" cy="914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0" y="2011680"/>
            <a:ext cx="54864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IAM 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6B6D4"/>
                </a:solidFill>
              </a:defRPr>
            </a:pPr>
            <a:r>
              <a:t>Passerelle de Provisionnement Intelligente des Identites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Equipe MOE : Zhmuryk Andrii  &amp;  Aydin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94A3B8"/>
                </a:solidFill>
              </a:defRPr>
            </a:pPr>
            <a:r>
              <a:t>Product Owner &amp; Architecture : A. CHIBANI</a:t>
            </a:r>
          </a:p>
          <a:p>
            <a:pPr algn="ctr">
              <a:defRPr sz="1500">
                <a:solidFill>
                  <a:srgbClr val="94A3B8"/>
                </a:solidFill>
              </a:defRPr>
            </a:pPr>
            <a:r>
              <a:t>BUT Informatique 3e annee - UPEC</a:t>
            </a:r>
          </a:p>
          <a:p>
            <a:pPr algn="ctr">
              <a:defRPr sz="1500">
                <a:solidFill>
                  <a:srgbClr val="94A3B8"/>
                </a:solidFill>
              </a:defRPr>
            </a:pPr>
            <a:r>
              <a:t>IUT Creteil-Vitry  |  Laboratoire LISSI</a:t>
            </a:r>
          </a:p>
          <a:p>
            <a:pPr algn="ctr">
              <a:defRPr sz="1500">
                <a:solidFill>
                  <a:srgbClr val="94A3B8"/>
                </a:solidFill>
              </a:defRPr>
            </a:pPr>
            <a:r>
              <a:t>NEXUS AI Innovation Lab  -  Fevrier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1.  Problematique &amp; Contexte</a:t>
            </a: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2.  Notre Solution</a:t>
            </a: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3.  Architecture &amp; Stack Technique</a:t>
            </a: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4.  Backlog des Fonctionnalites</a:t>
            </a: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5.  Fonctionnalites Implementees + Screenshots</a:t>
            </a: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6.  Fonctionnalites en Production</a:t>
            </a: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7.  Fonctionnalites a Finaliser (% progression)</a:t>
            </a: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8.  Fonctionnalites Futures</a:t>
            </a: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9.  Environnement de Developpement</a:t>
            </a: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10. Difficultes Rencontrees</a:t>
            </a: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11. Conclusion &amp; Competences Acquises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Problematique &amp;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Le defi de la gestion des identites</a:t>
            </a:r>
          </a:p>
          <a:p>
            <a:pPr>
              <a:spcAft>
                <a:spcPts val="400"/>
              </a:spcAft>
            </a:pP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- 1 employe = 5 a 10 comptes (AD, LDAP, ERP, Cloud...)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Creation manuelle = erreurs + delais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Depart employe = comptes orphelins oublies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Aucune tracabilite des acces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Risques de securite majeurs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Chiffres cles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- 30% des violations liees aux comptes orphelins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- 4h en moyenne pour creer les acces d'un employe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- 0% de tracabilite sans outil IGA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Systemes concernes</a:t>
            </a:r>
          </a:p>
          <a:p>
            <a:pPr>
              <a:spcAft>
                <a:spcPts val="400"/>
              </a:spcAft>
            </a:pP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Active Directory / LDAP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ERP (Odoo, SAP)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Applications metier (bases SQL)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Services Cloud (Keycloak, OAuth)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Intranet &amp; outils internes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Besoin</a:t>
            </a:r>
          </a:p>
          <a:p>
            <a:pPr>
              <a:defRPr sz="1400" i="1">
                <a:solidFill>
                  <a:srgbClr val="F59E0B"/>
                </a:solidFill>
              </a:defRPr>
            </a:pPr>
            <a:r>
              <a:t>Automatiser et centraliser le cycle</a:t>
            </a:r>
          </a:p>
          <a:p>
            <a:pPr>
              <a:defRPr sz="1400" i="1">
                <a:solidFill>
                  <a:srgbClr val="F59E0B"/>
                </a:solidFill>
              </a:defRPr>
            </a:pPr>
            <a:r>
              <a:t>de vie des identites numeriques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Notre Solution : IAM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Passerelle No-Code pour MidPoint</a:t>
            </a:r>
          </a:p>
          <a:p>
            <a:pPr>
              <a:spcAft>
                <a:spcPts val="400"/>
              </a:spcAft>
            </a:pP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MidPoint (Evolveum) = puissant mais complexe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Notre gateway simplifie l'interface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Interface web intuitive et moderne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3 piliers de la solution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1. Automatisation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Provisionnement automatique multi-systemes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Regles dynamiques (Jinja2)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Workflows d'approbation multi-niveaux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2. Centralisation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Un seul point d'entree pour tous les systemes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Vue temps reel des identites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Reconciliation automatique des ecarts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3. Conformite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Tracabilite complete (audit logs)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Recherche semantique IA dans les logs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Assistant IA integre</a:t>
            </a:r>
          </a:p>
          <a:p>
            <a:pPr>
              <a:spcAft>
                <a:spcPts val="400"/>
              </a:spcAft>
            </a:pPr>
          </a:p>
          <a:p>
            <a:pPr>
              <a:defRPr sz="1400" i="1">
                <a:solidFill>
                  <a:srgbClr val="F59E0B"/>
                </a:solidFill>
              </a:defRPr>
            </a:pPr>
            <a:r>
              <a:t>Innovation : rendre l'IAM accessible a tous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Schema d'Architecture Globale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Flux de provisionnement</a:t>
            </a:r>
          </a:p>
          <a:p>
            <a:pPr>
              <a:spcAft>
                <a:spcPts val="400"/>
              </a:spcAft>
            </a:pP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SOURCES (Odoo RH / CSV / Utilisateur)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              |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              v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GATEWAY IAM (FastAPI - port 8000)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  [Regles] [Workflows] [IA]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              |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              v</a:t>
            </a:r>
          </a:p>
          <a:p>
            <a:pPr>
              <a:defRPr sz="1400" i="1">
                <a:solidFill>
                  <a:srgbClr val="F59E0B"/>
                </a:solidFill>
              </a:defRPr>
            </a:pPr>
            <a:r>
              <a:t>MIDPOINT 4.4 - COEUR IGA &lt;&lt;&lt;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  Orchestrateur du provisionnement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  Roles, Policies, Reconciliation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              |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              v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SYSTEMES CIBLES provisionnes par MidPoint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  LDAP | Keycloak | Odoo |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Pourquoi MidPoint au centre ?</a:t>
            </a:r>
          </a:p>
          <a:p>
            <a:pPr>
              <a:spcAft>
                <a:spcPts val="400"/>
              </a:spcAft>
            </a:pP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Moteur IGA open source de reference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Gere les projections (shadows)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Reconciliation native entre systemes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Roles et policies centralises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Notre Gateway = No-Code pour MidPoint</a:t>
            </a:r>
          </a:p>
          <a:p>
            <a:pPr>
              <a:spcAft>
                <a:spcPts val="400"/>
              </a:spcAft>
            </a:pP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Gateway = simplification (interface)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MidPoint = orchestration (provisionnement)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Infrastructure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- 14 services Docker Compose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- 5 bases PostgreSQL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Redis (cache) + Qdrant (vecteurs IA)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Architecture Technique - 14 Services Docker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82296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Technologie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gateway-frontend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React 18 / TypeScript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Interface utilisateur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gateway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FastAPI / Python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API &amp; logique metier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midpoint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MidPoint 4.4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8080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IGA central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openldap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OpenLDAP 2.6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10389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Annuaire LDAP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odoo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Odoo 17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8069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ERP / SIRH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keycloak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Keycloak 23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8081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SSO / OIDC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redis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Redis 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6379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Cache &amp; sessions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qdrant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Qdrant 1.7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6333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Recherche vectorielle IA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5x PostgreSQL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PostgreSQL 15/16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Bases de donnees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phpldapadmin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phpLDAPadmin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8443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Admin LDAP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Stack Technologique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Backend (Python)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FastAPI 0.109 (async)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SQLModel + PostgreSQL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JWT + OAuth2 (securite)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ldap3 (LDAP natif)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Jinja2 Sandbox (moteur regles)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APScheduler (planification)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OpenAI API (assistant IA)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Qdrant (recherche semantique)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Frontend (TypeScript)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React 18 + Vite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React Router v6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Zustand (state management)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Tailwind CSS (styling)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i18next (FR, EN, UK)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Lucide React (icons)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Axios (HTTP client)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Recharts (graphiques)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Backlog - Gestion des Utilisateurs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Epic 1 : Gestion du cycle de vie des identites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User Story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Priorite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Pts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Creer un utilisateur dans tous les systemes cibles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Modifier les attributs d'un utilisateur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Desactiver/supprimer un compte partout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Voir l'historique des modifications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Should Have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Assigner des roles MidPoint a un utilisateur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Gerer les groupes LDAP (membres)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Importer utilisateurs depuis CSV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Should Have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Backlog - Connecteurs &amp; Regles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Epic 2 : Connecteurs  |  Epic 3 : Regles &amp; Workflows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82296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User Story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Priorite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Pts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Connecteur LDAP (OpenLDAP, AD)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Connecteur Odoo (ERP via XML-RPC)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Connecteur SQL (PostgreSQL)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Connecteur MidPoint (REST API)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Connecteur Keycloak (OIDC)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Should Have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Connecteur CSV (import/export)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Should Have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Moteur de regles Jinja2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Workflows d'approbation multi-niveaux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Backlog - Audit, IA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Epic 4 : Audit &amp; Conformite  |  Epic 5 : Monitoring &amp; IA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82296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User Story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Priorite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Pts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Dashboard temps reel avec metriques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Audit logs avec recherche full-text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Recherche semantique IA (Qdrant)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Could Have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Assistant IA (chat GPT-4)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Could Have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Reconciliation multi-systemes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Comparaison live entre systemes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Should Have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Planificateur de synchronisations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Should Have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Notifications email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Should Have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Implementee :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100% - Operationnel en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Dashboard Principal</a:t>
            </a:r>
          </a:p>
          <a:p>
            <a:pPr>
              <a:spcAft>
                <a:spcPts val="400"/>
              </a:spcAft>
            </a:pP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Vue d'ensemble en temps reel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Nombre d'utilisateurs par systeme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Etat de sante des connecteurs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Dernieres operations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Services MidPoint en temps reel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API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GET /api/v1/admin/status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GET /api/v1/admin/metrics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GET /api/v1/connectors/health</a:t>
            </a:r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4114800" cy="19752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Implementee : Provisionnement Multi-Systemes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100% - Provisionnement + 6 connecteurs operationnels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Operations de provisionnement</a:t>
            </a:r>
          </a:p>
          <a:p>
            <a:pPr>
              <a:spcAft>
                <a:spcPts val="400"/>
              </a:spcAft>
            </a:pP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Creation utilisateur dans LDAP + Odoo + MidPoint + SQL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Modification des attributs en cascade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Desactivation/suppression multi-systemes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Selection visuelle des systemes cibles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Formulaire dynamique avec niveaux de permission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6 connecteurs natifs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LDAP (OpenLDAP / Active Directory)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Odoo 17 (XML-RPC)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PostgreSQL (SQL direct)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MidPoint (REST API)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Keycloak (OIDC)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CSV (import/export)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Flux d'une operation</a:t>
            </a:r>
          </a:p>
          <a:p>
            <a:pPr>
              <a:spcAft>
                <a:spcPts val="400"/>
              </a:spcAft>
            </a:pP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1. Saisie formulaire (attributs)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2. Selection systemes cibles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3. Evaluation des regles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4. Workflow d'approbation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5. Execution multi-systeme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6. Log audit + notification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Connecteur Wizard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Formulaire 2 etapes (schema-driven)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Test de connexion en direct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Configuration JSON Schema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Implementee : Gestion MidPoint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100% - CRUD complet + attribution roles</a:t>
            </a:r>
          </a:p>
        </p:txBody>
      </p:sp>
      <p:pic>
        <p:nvPicPr>
          <p:cNvPr id="6" name="Picture 5" descr="midpoint-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931920" cy="1887491"/>
          </a:xfrm>
          <a:prstGeom prst="rect">
            <a:avLst/>
          </a:prstGeom>
        </p:spPr>
      </p:pic>
      <p:pic>
        <p:nvPicPr>
          <p:cNvPr id="7" name="Picture 6" descr="midpoint-ro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80160"/>
            <a:ext cx="3931920" cy="18874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486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Utilisateurs MidPoint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486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Roles MidPoint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Implementee : Comparaison &amp; Reconciliation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100% - Detection et resolution des ecarts</a:t>
            </a:r>
          </a:p>
        </p:txBody>
      </p:sp>
      <p:pic>
        <p:nvPicPr>
          <p:cNvPr id="6" name="Picture 5" descr="comparaison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931920" cy="1887491"/>
          </a:xfrm>
          <a:prstGeom prst="rect">
            <a:avLst/>
          </a:prstGeom>
        </p:spPr>
      </p:pic>
      <p:pic>
        <p:nvPicPr>
          <p:cNvPr id="7" name="Picture 6" descr="reconcili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80160"/>
            <a:ext cx="3931920" cy="18874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486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Comparaison live entre systemes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486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Reconciliation des divergences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Implementee : Groupes LDAP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100% - Gestion groupes LDAP operationnelle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Gestion complete des groupes LDAP</a:t>
            </a:r>
          </a:p>
          <a:p>
            <a:pPr>
              <a:spcAft>
                <a:spcPts val="400"/>
              </a:spcAft>
            </a:pP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Liste de tous les groupes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Visualisation des membres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Ajout avec autocomplete intelligent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Suppression de membres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Support groupOfUniqueNames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Filtrage automatique OIDs MidPoint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Interface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Recherche temps reel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Autocompletion depuis annuaire</a:t>
            </a:r>
          </a:p>
        </p:txBody>
      </p:sp>
      <p:pic>
        <p:nvPicPr>
          <p:cNvPr id="7" name="Picture 6" descr="ldap-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4114800" cy="197528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Implementees : Workflows, Audit &amp;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100% - 4 modules operationnels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Workflows d'Approbation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Configuration 5 niveaux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Approbation / rejet avec commentaires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Timeout configurable (72h par defaut)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Notifications par email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Historique complet des decisions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Moteur de Regles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Expressions Jinja2 sandboxees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Types: mapping, calcul, validation, aggregation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Test avec donnees fictives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Filtres integres (normalize_name, etc.)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Audit &amp; Conformite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Logging structure JSON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Recherche full-text dans les logs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Recherche semantique IA (Qdrant)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Filtrage par date, type, source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Conformite RGPD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Assistant IA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Chat intelligent (GPT-4)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Analyse des identites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Suggestions de regles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Aide au diagnostic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Fonctionnalites en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12 modules deployes et fonctionnels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8229600" cy="457200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810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Pages UI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Endpoints API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Dashboard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Operationnel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Provisionnement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 + modal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Operationnel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Connecteurs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 + wizard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Operationnel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Utilisateurs MidPoint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 + modal roles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Operationnel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Utilisateurs Gateway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 + approbation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Operationnel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Comparaison Live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Operationnel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Reconciliation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Operationnel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Groupes LDAP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Operationnel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Workflows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Operationnel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Audit &amp; Logs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Operationnel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Assistant IA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Operationnel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Fonctionnalites a Finaliser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6 fonctionnalites partiellement implementees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914400"/>
                <a:gridCol w="41148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Fonctionnalite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Integration Keycloak (sync groupes)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86EFAC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1E3A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Mapping roles OIDC &lt;-&gt; MidPoint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Notifications Email (templates HTML)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4220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Templates Jinja2 + SMTP config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Recherche Vectorielle (refresh)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86EFAC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1E3A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Refresh auto des embeddings Qdrant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Rollback Operations (nettoyage)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4220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Annulation en cascade + etats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Editeur de Regles (UI)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45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Formulaire creation/edition regles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Persistance Operations (DB)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4220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Migrer du memory_store vers PostgreSQL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Fonctionnalites a Implementer (Futur)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Roadmap produit post-SAE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Priorite Haute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Deploiement Kubernetes / Helm charts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Masquage donnees PII (RGPD)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Migration schema DB (Alembic)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Connecteur Azure AD / Entra ID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Priorite Moyenne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Connecteur Google Workspace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Connecteur Firebase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Detection Separation of Duties (SoD)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Constructeur visuel de workflows (drag &amp; drop)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Priorite Basse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Application mobile (React Native)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Multi-tenancy (mode SaaS)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Machine Learning (detection anomalies)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MFA biometrique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Estimation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~60 story points restants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- 3 sprints supplementaires estimes</a:t>
            </a:r>
          </a:p>
          <a:p>
            <a:pPr>
              <a:spcAft>
                <a:spcPts val="400"/>
              </a:spcAft>
            </a:pPr>
          </a:p>
          <a:p>
            <a:pPr>
              <a:defRPr sz="1400" i="1">
                <a:solidFill>
                  <a:srgbClr val="F59E0B"/>
                </a:solidFill>
              </a:defRPr>
            </a:pPr>
            <a:r>
              <a:t>Feuille de route disponible</a:t>
            </a:r>
          </a:p>
          <a:p>
            <a:pPr>
              <a:defRPr sz="1400" i="1">
                <a:solidFill>
                  <a:srgbClr val="F59E0B"/>
                </a:solidFill>
              </a:defRPr>
            </a:pPr>
            <a:r>
              <a:t>sur GitHub Issues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Environnement de Developpement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Outils, workflow et organisation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IDE : Visual Studio Code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Extensions : Python, ESLint, Prettier, Docker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Terminal integre pour docker-compose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Debugger FastAPI (launch.json)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Live reload frontend (Vite HMR)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Controle de version : Git &amp; GitHub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Organisation : NEXUS-AI-Innovation-lab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Repo : IAM-Gateway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Branches : main + feature branches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Commits conventionnels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GitHub Issues &amp; Project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- 9+ issues creees (7 closed, 2 open)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Labels : bug, enhancement, documentation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Milestones par sprint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CI/CD &amp; Docker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docker-compose.yml (14 services)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.env pour configuration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Volumes persistants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Build frontend : npm run build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Documentation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GUIDE_DEVELOPPEUR.md (1300+ lignes)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README.md par module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GitHub : Issues, Commits &amp; Organisation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Historique et gestion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Organisation GitHub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NEXUS-AI-Innovation-lab/IAM-Gateway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Visibilite publique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Issues creees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#1 Configurer CI pipeline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#2 Ajouter tests unitaires backend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#3 Optimiser requetes LDAP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#4 Ameliorer UX mobile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#5 Documenter API REST (Swagger)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#6 Ajouter monitoring Prometheus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#7 Audit de securite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Commits recents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Add i18n support (FR, EN, UK)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Add developer guide &amp; code docs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Update poster and presentation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Add real IUT and LISSI logos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Fix user management &amp; approval system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Add IGA connector types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Statistiques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- 50+ commits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- 2 contributeurs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- 21,000+ lignes de code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Difficultes Rencontrees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1. Complexite MidPoint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API XML complexe, peu documentee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Solution : abstraction via REST API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2. Transactions distribuees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- 1 operation = 4 systemes cibles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Solution : pattern Saga + compensations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3. Securite moteur regles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Jinja2 peut executer du code arbitraire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Solution : SandboxedEnvironment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4. Gestion des secrets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- 20+ variables sensibles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Solution : .env + validation au demarrage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5. Synchronisation temps reel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Coherence eventuelle entre systemes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Solution : cache invalidation + polling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6. Mapping attributs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Schemas differents par systeme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Solution : config mappings par connecteur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7. Couts &amp; latence IA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OpenAI API = cout + latence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Solution : cache + rate limiting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8. Tests d'integration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- 14 services = complexite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Solution : mocks + env dedie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Conclusion &amp; Competences Acquises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Bilan du projet SAE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Ce que nous avons realise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- 12+ modules operationnels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- 14 services Docker orchestres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- 80+ endpoints API REST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- 15 pages frontend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- 3 langues (FR, EN, UK)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- 16,000+ lignes Python + 5,000+ lignes TS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Competences Techniques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Architecture microservices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API REST avancee (FastAPI)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React moderne (hooks, Zustand, Router)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Docker Compose &amp; orchestration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Securite (JWT, RBAC, OAuth2)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Bases de donnees (PostgreSQL, LDAP, Redis)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Competences IAM / IGA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Provisionnement des identites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Reconciliation multi-systemes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Workflows d'approbation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Audit et conformite (RGPD)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RBAC / ABAC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SSO / OIDC / Keycloak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MidPoint administration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1000"/>
              </a:spcBef>
              <a:defRPr sz="1800" b="1">
                <a:solidFill>
                  <a:srgbClr val="06B6D4"/>
                </a:solidFill>
              </a:defRPr>
            </a:pPr>
            <a:r>
              <a:t>Competences Projet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Methodologie SCRUM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Gestion backlog (user stories)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Git &amp; GitHub (issues, branches)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Documentation technique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- Presentation et communication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-Logo-INFO-FOND-BLAN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803900" cy="914400"/>
          </a:xfrm>
          <a:prstGeom prst="rect">
            <a:avLst/>
          </a:prstGeom>
        </p:spPr>
      </p:pic>
      <p:pic>
        <p:nvPicPr>
          <p:cNvPr id="4" name="Picture 3" descr="Lissi-cmj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74320"/>
            <a:ext cx="3004632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Merci de votre attention 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6B6D4"/>
                </a:solidFill>
              </a:defRPr>
            </a:pPr>
            <a:r>
              <a:t>Questions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GitHub : github.com/NEXUS-AI-Innovation-lab/IAM-Gateway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t>Equipe MOE : Zhmuryk Andrii &amp; Aydin Ibrahim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t>Product Owner : A. CHIBANI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t>IUT Creteil-Vitry  |  Laboratoire LISSI  |  UPEC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